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1d60c4-8ed6-72e3-7c1c-9f2cb53ceeb7}">
          <p14:sldIdLst>
            <p14:sldId id="256"/>
            <p14:sldId id="257"/>
          </p14:sldIdLst>
        </p14:section>
        <p14:section name="Men" id="{30b539ae-6c89-c59c-86e8-fa681b8a6d9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Women" id="{0094c646-ab91-43ee-5580-a23cba90cb8f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Coming Soon" id="{ea555756-0d21-a216-fe0e-edf29f39c45a}">
          <p14:sldIdLst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3657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</a:rPr>
              <a:t>XYDV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874520"/>
            <a:ext cx="393192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017520"/>
            <a:ext cx="39319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</a:rPr>
              <a:t>XYDV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</a:rPr>
              <a:t>XYDV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ALLERY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</a:rPr>
              <a:t>XYDV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760" y="4709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</a:rPr>
              <a:t>XYDV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image" Target="../media/image-29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image" Target="../media/image-30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jpeg"/><Relationship Id="rId3" Type="http://schemas.openxmlformats.org/officeDocument/2006/relationships/image" Target="../media/image-31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image" Target="../media/image-32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jpeg"/><Relationship Id="rId3" Type="http://schemas.openxmlformats.org/officeDocument/2006/relationships/image" Target="../media/image-33-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3" Type="http://schemas.openxmlformats.org/officeDocument/2006/relationships/image" Target="../media/image-34-3.jpe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image" Target="../media/image-35-2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spc="600" kern="0" dirty="0">
                <a:solidFill>
                  <a:schemeClr val="bg1"/>
                </a:solidFill>
              </a:rPr>
              <a:t>XYDV</a:t>
            </a:r>
            <a:endParaRPr lang="en-US" sz="7200" dirty="0"/>
          </a:p>
        </p:txBody>
      </p:sp>
      <p:sp>
        <p:nvSpPr>
          <p:cNvPr id="3" name="Subbrand"/>
          <p:cNvSpPr txBox="1"/>
          <p:nvPr/>
        </p:nvSpPr>
        <p:spPr>
          <a:xfrm>
            <a:off x="5486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chemeClr val="accent1"/>
                </a:solidFill>
              </a:rPr>
              <a:t>APPAREL</a:t>
            </a:r>
            <a:endParaRPr lang="en-US" sz="18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Collection Lookbook</a:t>
            </a:r>
            <a:endParaRPr lang="en-US" sz="2200" dirty="0"/>
          </a:p>
        </p:txBody>
      </p:sp>
      <p:sp>
        <p:nvSpPr>
          <p:cNvPr id="5" name="Categories"/>
          <p:cNvSpPr txBox="1"/>
          <p:nvPr/>
        </p:nvSpPr>
        <p:spPr>
          <a:xfrm>
            <a:off x="54864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Men  ·  Women  ·  Training  ·  Outerwear  ·  Casual</a:t>
            </a:r>
            <a:endParaRPr lang="en-US" sz="1200" dirty="0"/>
          </a:p>
        </p:txBody>
      </p:sp>
      <p:pic>
        <p:nvPicPr>
          <p:cNvPr id="6" name="Photo XYDV sweatshirt, tee and cargo joggers" descr="XYDV sweatshirt, tee and cargo jogg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0"/>
            <a:ext cx="466344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XYDV  /  LOOKBOOK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Collection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Sports and everyday wear for men and women, built on clean seams and tonal branding.</a:t>
            </a:r>
            <a:endParaRPr lang="en-US" sz="1400" dirty="0"/>
          </a:p>
        </p:txBody>
      </p:sp>
      <p:pic>
        <p:nvPicPr>
          <p:cNvPr id="5" name="Photo Men's Essentials" descr="Men's Essenti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833372" cy="2194560"/>
          </a:xfrm>
          <a:prstGeom prst="rect">
            <a:avLst/>
          </a:prstGeom>
        </p:spPr>
      </p:pic>
      <p:sp>
        <p:nvSpPr>
          <p:cNvPr id="6" name="Tile label"/>
          <p:cNvSpPr txBox="1"/>
          <p:nvPr/>
        </p:nvSpPr>
        <p:spPr>
          <a:xfrm>
            <a:off x="548640" y="3931920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Men's Essentials</a:t>
            </a:r>
            <a:endParaRPr lang="en-US" sz="1400" dirty="0"/>
          </a:p>
        </p:txBody>
      </p:sp>
      <p:sp>
        <p:nvSpPr>
          <p:cNvPr id="7" name="Tile sub"/>
          <p:cNvSpPr txBox="1"/>
          <p:nvPr/>
        </p:nvSpPr>
        <p:spPr>
          <a:xfrm>
            <a:off x="548640" y="4187952"/>
            <a:ext cx="1833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Tees · Joggers · Outerwear</a:t>
            </a:r>
            <a:endParaRPr lang="en-US" sz="1100" dirty="0"/>
          </a:p>
        </p:txBody>
      </p:sp>
      <p:pic>
        <p:nvPicPr>
          <p:cNvPr id="8" name="Photo Women's Essentials" descr="Women's Essenti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756" y="1645920"/>
            <a:ext cx="1833372" cy="2194560"/>
          </a:xfrm>
          <a:prstGeom prst="rect">
            <a:avLst/>
          </a:prstGeom>
        </p:spPr>
      </p:pic>
      <p:sp>
        <p:nvSpPr>
          <p:cNvPr id="9" name="Tile label"/>
          <p:cNvSpPr txBox="1"/>
          <p:nvPr/>
        </p:nvSpPr>
        <p:spPr>
          <a:xfrm>
            <a:off x="2619756" y="3931920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Women's Essentials</a:t>
            </a:r>
            <a:endParaRPr lang="en-US" sz="1400" dirty="0"/>
          </a:p>
        </p:txBody>
      </p:sp>
      <p:sp>
        <p:nvSpPr>
          <p:cNvPr id="10" name="Tile sub"/>
          <p:cNvSpPr txBox="1"/>
          <p:nvPr/>
        </p:nvSpPr>
        <p:spPr>
          <a:xfrm>
            <a:off x="2619756" y="4187952"/>
            <a:ext cx="1833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Tees · Tops · Sets</a:t>
            </a:r>
            <a:endParaRPr lang="en-US" sz="1100" dirty="0"/>
          </a:p>
        </p:txBody>
      </p:sp>
      <p:pic>
        <p:nvPicPr>
          <p:cNvPr id="11" name="Photo Training &amp; Gym Sets" descr="Training &amp; Gym Se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645920"/>
            <a:ext cx="1833372" cy="2194560"/>
          </a:xfrm>
          <a:prstGeom prst="rect">
            <a:avLst/>
          </a:prstGeom>
        </p:spPr>
      </p:pic>
      <p:sp>
        <p:nvSpPr>
          <p:cNvPr id="12" name="Tile label"/>
          <p:cNvSpPr txBox="1"/>
          <p:nvPr/>
        </p:nvSpPr>
        <p:spPr>
          <a:xfrm>
            <a:off x="4690872" y="3931920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Training &amp; Gym Sets</a:t>
            </a:r>
            <a:endParaRPr lang="en-US" sz="1400" dirty="0"/>
          </a:p>
        </p:txBody>
      </p:sp>
      <p:sp>
        <p:nvSpPr>
          <p:cNvPr id="13" name="Tile sub"/>
          <p:cNvSpPr txBox="1"/>
          <p:nvPr/>
        </p:nvSpPr>
        <p:spPr>
          <a:xfrm>
            <a:off x="4690872" y="4187952"/>
            <a:ext cx="1833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Jackets · Shorts · Bras</a:t>
            </a:r>
            <a:endParaRPr lang="en-US" sz="1100" dirty="0"/>
          </a:p>
        </p:txBody>
      </p:sp>
      <p:pic>
        <p:nvPicPr>
          <p:cNvPr id="14" name="Photo Casual &amp; Semi-Formal" descr="Casual &amp; Semi-Form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988" y="1645920"/>
            <a:ext cx="1833372" cy="2194560"/>
          </a:xfrm>
          <a:prstGeom prst="rect">
            <a:avLst/>
          </a:prstGeom>
        </p:spPr>
      </p:pic>
      <p:sp>
        <p:nvSpPr>
          <p:cNvPr id="15" name="Tile label"/>
          <p:cNvSpPr txBox="1"/>
          <p:nvPr/>
        </p:nvSpPr>
        <p:spPr>
          <a:xfrm>
            <a:off x="6761988" y="3931920"/>
            <a:ext cx="1833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Casual &amp; Semi-Formal</a:t>
            </a:r>
            <a:endParaRPr lang="en-US" sz="1400" dirty="0"/>
          </a:p>
        </p:txBody>
      </p:sp>
      <p:sp>
        <p:nvSpPr>
          <p:cNvPr id="16" name="Tile sub"/>
          <p:cNvSpPr txBox="1"/>
          <p:nvPr/>
        </p:nvSpPr>
        <p:spPr>
          <a:xfrm>
            <a:off x="6761988" y="4187952"/>
            <a:ext cx="1833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Outfits · Layers · Denim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874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Men</a:t>
            </a:r>
            <a:endParaRPr lang="en-US" sz="7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Tees · Joggers · Training sets · Outerwear · Casual</a:t>
            </a:r>
            <a:endParaRPr lang="en-US" sz="1400" dirty="0"/>
          </a:p>
        </p:txBody>
      </p:sp>
      <p:pic>
        <p:nvPicPr>
          <p:cNvPr id="5" name="Photo Men 1" descr="Me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0"/>
            <a:ext cx="1417320" cy="5143500"/>
          </a:xfrm>
          <a:prstGeom prst="rect">
            <a:avLst/>
          </a:prstGeom>
        </p:spPr>
      </p:pic>
      <p:pic>
        <p:nvPicPr>
          <p:cNvPr id="6" name="Photo Men 2" descr="Me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0"/>
            <a:ext cx="1417320" cy="5143500"/>
          </a:xfrm>
          <a:prstGeom prst="rect">
            <a:avLst/>
          </a:prstGeom>
        </p:spPr>
      </p:pic>
      <p:pic>
        <p:nvPicPr>
          <p:cNvPr id="7" name="Photo Men 3" descr="Me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0"/>
            <a:ext cx="141732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Sports T‑Shirt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training tee built around geometric paneling, with diagonal seams cutting across the front for a sharp, structured look.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Diagonal panel seams across the front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crew neck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Tonal XYDV chest logo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Relaxed athletic fit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Charcoal</a:t>
            </a:r>
            <a:endParaRPr lang="en-US" sz="1100" dirty="0"/>
          </a:p>
        </p:txBody>
      </p:sp>
      <p:pic>
        <p:nvPicPr>
          <p:cNvPr id="7" name="Photo Sports T‑Shirt" descr="Sports T‑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Diagonal Seam T‑Shirt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everyday essential with one sweeping seam across the chest. Minimal, clean and easy to pair.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Single diagonal chest seam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crew neck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Regular fit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3977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COLOURWAYS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Mint · Stone</a:t>
            </a:r>
            <a:endParaRPr lang="en-US" sz="1100" dirty="0"/>
          </a:p>
        </p:txBody>
      </p:sp>
      <p:pic>
        <p:nvPicPr>
          <p:cNvPr id="7" name="Photo Mint" descr="M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56260"/>
            <a:ext cx="2240280" cy="37338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97764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Mint</a:t>
            </a:r>
            <a:endParaRPr lang="en-US" sz="1100" dirty="0"/>
          </a:p>
        </p:txBody>
      </p:sp>
      <p:pic>
        <p:nvPicPr>
          <p:cNvPr id="9" name="Photo Stone" descr="St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56260"/>
            <a:ext cx="2240280" cy="373380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44652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Sportswear T‑Shirt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sharper take on the training tee, with an angled front hem and a diagonal seam for a technical edge.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Asymmetric dipped hem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Diagonal front seam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Tonal XYDV chest logo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Athletic fit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Black</a:t>
            </a:r>
            <a:endParaRPr lang="en-US" sz="1100" dirty="0"/>
          </a:p>
        </p:txBody>
      </p:sp>
      <p:pic>
        <p:nvPicPr>
          <p:cNvPr id="7" name="Photo Sportswear T‑Shirt" descr="Sportswear T‑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Casual Colourblock T‑Shirt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Two-tone blocking with the XYDV mark on the chest. Laid-back, but still considered.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Horizontal two-tone colour block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XYDV icon on the chest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crew neck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Regular fit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Black / Olive</a:t>
            </a:r>
            <a:endParaRPr lang="en-US" sz="1100" dirty="0"/>
          </a:p>
        </p:txBody>
      </p:sp>
      <p:pic>
        <p:nvPicPr>
          <p:cNvPr id="7" name="Photo Casual Colourblock T‑Shirt" descr="Casual Colourblock T‑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Cargo Joggers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Tapered cargo joggers with a drawstring waist and cuffed ankles that go from gym to street.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Drawstring elastic waist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Flap cargo pocket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ankle cuffs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Tapered leg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Charcoal</a:t>
            </a:r>
            <a:endParaRPr lang="en-US" sz="1100" dirty="0"/>
          </a:p>
        </p:txBody>
      </p:sp>
      <p:pic>
        <p:nvPicPr>
          <p:cNvPr id="7" name="Photo Cargo Joggers" descr="Cargo Jogg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06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Windbreaker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lightweight hooded shell for outdoor sessions and cool mornings. Full-zip and stripped back.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Attached hood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Full-length front zip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Elasticated cuffs and hem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Chest yoke seam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Black</a:t>
            </a:r>
            <a:endParaRPr lang="en-US" sz="1100" dirty="0"/>
          </a:p>
        </p:txBody>
      </p:sp>
      <p:pic>
        <p:nvPicPr>
          <p:cNvPr id="7" name="Photo Windbreaker" descr="Windbrea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SPORTSWEAR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Sportswear T‑Shirts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Raglan-sleeve training tees and a sport polo, finished with textured shoulder panels and tonal XYDV branding.</a:t>
            </a:r>
            <a:endParaRPr lang="en-US" sz="1400" dirty="0"/>
          </a:p>
        </p:txBody>
      </p:sp>
      <p:pic>
        <p:nvPicPr>
          <p:cNvPr id="5" name="Photo Raglan crew tee" descr="Raglan crew t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Raglan crew tee</a:t>
            </a:r>
            <a:endParaRPr lang="en-US" sz="1100" dirty="0"/>
          </a:p>
        </p:txBody>
      </p:sp>
      <p:pic>
        <p:nvPicPr>
          <p:cNvPr id="7" name="Photo Sport polo" descr="Sport po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Sport polo</a:t>
            </a:r>
            <a:endParaRPr lang="en-US" sz="1100" dirty="0"/>
          </a:p>
        </p:txBody>
      </p:sp>
      <p:pic>
        <p:nvPicPr>
          <p:cNvPr id="9" name="Photo Textured-shoulder tee" descr="Textured-shoulder t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Textured-shoulder tee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SPORTSWEAR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Sportswear Lowers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Fleece-look joggers with drawstring waists, cuffed ankles and the XYDV wordmark on the thigh.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Drawstring waist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ankle cuffs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XYDV thigh branding</a:t>
            </a:r>
            <a:endParaRPr lang="en-US" sz="1400" dirty="0"/>
          </a:p>
        </p:txBody>
      </p:sp>
      <p:pic>
        <p:nvPicPr>
          <p:cNvPr id="6" name="Photo Slate jogger" descr="Slate jog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49292"/>
            <a:ext cx="2240280" cy="2947737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3977640" y="39884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Slate jogger</a:t>
            </a:r>
            <a:endParaRPr lang="en-US" sz="1100" dirty="0"/>
          </a:p>
        </p:txBody>
      </p:sp>
      <p:pic>
        <p:nvPicPr>
          <p:cNvPr id="8" name="Photo Charcoal cargo jogger" descr="Charcoal cargo jogg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949292"/>
            <a:ext cx="2240280" cy="294773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46520" y="39884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Charcoal cargo jogger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Sports &amp; Gym Combos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Coordinated jacket-and-bottom sets, built to be worn together from warm-up to cool-down.</a:t>
            </a:r>
            <a:endParaRPr lang="en-US" sz="1400" dirty="0"/>
          </a:p>
        </p:txBody>
      </p:sp>
      <p:pic>
        <p:nvPicPr>
          <p:cNvPr id="5" name="Photo Black hooded set" descr="Black hooded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Black hooded set</a:t>
            </a:r>
            <a:endParaRPr lang="en-US" sz="1100" dirty="0"/>
          </a:p>
        </p:txBody>
      </p:sp>
      <p:pic>
        <p:nvPicPr>
          <p:cNvPr id="8" name="Photo Olive jacket &amp; shorts" descr="Olive jacket &amp; sh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Olive jacket &amp; shorts</a:t>
            </a:r>
            <a:endParaRPr lang="en-US" sz="1100" dirty="0"/>
          </a:p>
        </p:txBody>
      </p:sp>
      <p:pic>
        <p:nvPicPr>
          <p:cNvPr id="10" name="Photo Steel track set" descr="Steel track s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Steel track 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Layered Training Sets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Navy and grey layering pieces: hooded jackets, hoodies, joggers and shorts that mix across the range.</a:t>
            </a:r>
            <a:endParaRPr lang="en-US" sz="1400" dirty="0"/>
          </a:p>
        </p:txBody>
      </p:sp>
      <p:pic>
        <p:nvPicPr>
          <p:cNvPr id="5" name="Photo Navy hooded short set" descr="Navy hooded short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Navy hooded short set</a:t>
            </a:r>
            <a:endParaRPr lang="en-US" sz="1100" dirty="0"/>
          </a:p>
        </p:txBody>
      </p:sp>
      <p:pic>
        <p:nvPicPr>
          <p:cNvPr id="7" name="Photo Grey track jacket &amp; shorts" descr="Grey track jacket &amp; sh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Grey track jacket &amp; shorts</a:t>
            </a:r>
            <a:endParaRPr lang="en-US" sz="1100" dirty="0"/>
          </a:p>
        </p:txBody>
      </p:sp>
      <p:pic>
        <p:nvPicPr>
          <p:cNvPr id="9" name="Photo Navy layering trio" descr="Navy layering tr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Navy layering trio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Summer Training Kit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Breathable tees, tanks and shorts with lightweight track pants for hot-weather sessions.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Training tee and tank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Drawstring shorts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Lightweight track pants</a:t>
            </a:r>
            <a:endParaRPr lang="en-US" sz="1400" dirty="0"/>
          </a:p>
        </p:txBody>
      </p:sp>
      <p:pic>
        <p:nvPicPr>
          <p:cNvPr id="6" name="Photo Tee, tank &amp; shorts" descr="Tee, tank &amp; sh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22985"/>
            <a:ext cx="2240280" cy="280035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397764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Tee, tank &amp; shorts</a:t>
            </a:r>
            <a:endParaRPr lang="en-US" sz="1100" dirty="0"/>
          </a:p>
        </p:txBody>
      </p:sp>
      <p:pic>
        <p:nvPicPr>
          <p:cNvPr id="8" name="Photo Lightweight track pants" descr="Lightweight track pa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22985"/>
            <a:ext cx="2240280" cy="280035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4652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Lightweight track pants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OUTERWEAR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Wind Cheaters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Hooded wind cheaters with zip pockets and ribbed cuffs, in three core colours.</a:t>
            </a:r>
            <a:endParaRPr lang="en-US" sz="1400" dirty="0"/>
          </a:p>
        </p:txBody>
      </p:sp>
      <p:pic>
        <p:nvPicPr>
          <p:cNvPr id="5" name="Photo Ash grey" descr="Ash gr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Ash grey</a:t>
            </a:r>
            <a:endParaRPr lang="en-US" sz="1100" dirty="0"/>
          </a:p>
        </p:txBody>
      </p:sp>
      <p:pic>
        <p:nvPicPr>
          <p:cNvPr id="8" name="Photo Olive" descr="Oli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Olive</a:t>
            </a:r>
            <a:endParaRPr lang="en-US" sz="1100" dirty="0"/>
          </a:p>
        </p:txBody>
      </p:sp>
      <p:pic>
        <p:nvPicPr>
          <p:cNvPr id="10" name="Photo Black" descr="Bla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Black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CASUAL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Semi-Formal &amp; Casual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Relaxed shapes in muted stone and sage, bridging smart-casual and streetwear.</a:t>
            </a:r>
            <a:endParaRPr lang="en-US" sz="1400" dirty="0"/>
          </a:p>
        </p:txBody>
      </p:sp>
      <p:pic>
        <p:nvPicPr>
          <p:cNvPr id="5" name="Photo Stone half-zip &amp; pleated trousers" descr="Stone half-zip &amp; pleated tro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Stone half-zip &amp; pleated trousers</a:t>
            </a:r>
            <a:endParaRPr lang="en-US" sz="1100" dirty="0"/>
          </a:p>
        </p:txBody>
      </p:sp>
      <p:pic>
        <p:nvPicPr>
          <p:cNvPr id="7" name="Photo Sage layered tee &amp; cargos" descr="Sage layered tee &amp; carg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Sage layered tee &amp; cargos</a:t>
            </a:r>
            <a:endParaRPr lang="en-US" sz="1100" dirty="0"/>
          </a:p>
        </p:txBody>
      </p:sp>
      <p:pic>
        <p:nvPicPr>
          <p:cNvPr id="9" name="Photo Sand oversized tee &amp; cargos" descr="Sand oversized tee &amp; carg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Sand oversized tee &amp; cargos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CASUAL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Tee &amp; Denim Outfits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Clean XYDV tees styled with dark denim for easy, everyday outfits.</a:t>
            </a:r>
            <a:endParaRPr lang="en-US" sz="1400" dirty="0"/>
          </a:p>
        </p:txBody>
      </p:sp>
      <p:pic>
        <p:nvPicPr>
          <p:cNvPr id="5" name="Photo Stone tee &amp; dark denim" descr="Stone tee &amp; dark den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Stone tee &amp; dark denim</a:t>
            </a:r>
            <a:endParaRPr lang="en-US" sz="1100" dirty="0"/>
          </a:p>
        </p:txBody>
      </p:sp>
      <p:pic>
        <p:nvPicPr>
          <p:cNvPr id="8" name="Photo Powder blue tee" descr="Powder blue t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Powder blue tee</a:t>
            </a:r>
            <a:endParaRPr lang="en-US" sz="1100" dirty="0"/>
          </a:p>
        </p:txBody>
      </p:sp>
      <p:pic>
        <p:nvPicPr>
          <p:cNvPr id="10" name="Photo Peach long-sleeve" descr="Peach long-slee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Peach long-sleeve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CASUAL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Relaxed Denim Outfits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Boxy tees with washed and cargo denim for a laid-back weekend look.</a:t>
            </a:r>
            <a:endParaRPr lang="en-US" sz="1400" dirty="0"/>
          </a:p>
        </p:txBody>
      </p:sp>
      <p:pic>
        <p:nvPicPr>
          <p:cNvPr id="5" name="Photo Grey tee &amp; denim" descr="Grey tee &amp; den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Grey tee &amp; denim</a:t>
            </a:r>
            <a:endParaRPr lang="en-US" sz="1100" dirty="0"/>
          </a:p>
        </p:txBody>
      </p:sp>
      <p:pic>
        <p:nvPicPr>
          <p:cNvPr id="7" name="Photo Cream tee &amp; cargo denim" descr="Cream tee &amp; cargo den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Cream tee &amp; cargo denim</a:t>
            </a:r>
            <a:endParaRPr lang="en-US" sz="1100" dirty="0"/>
          </a:p>
        </p:txBody>
      </p:sp>
      <p:pic>
        <p:nvPicPr>
          <p:cNvPr id="9" name="Photo Charcoal pocket tee &amp; denim" descr="Charcoal pocket tee &amp; deni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Charcoal pocket tee &amp; denim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MEN  /  CASUAL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Casual T‑Shirt Collection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full rail of casual tees, from bold XYDV graphics to minimal logo essentials.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Bold XYDV graphic prints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Small chest logos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Neutral core colours</a:t>
            </a:r>
            <a:endParaRPr lang="en-US" sz="1400" dirty="0"/>
          </a:p>
        </p:txBody>
      </p:sp>
      <p:pic>
        <p:nvPicPr>
          <p:cNvPr id="6" name="Photo Graphic &amp; logo tees" descr="Graphic &amp; logo te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22985"/>
            <a:ext cx="2240280" cy="280035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397764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Graphic &amp; logo tees</a:t>
            </a:r>
            <a:endParaRPr lang="en-US" sz="1100" dirty="0"/>
          </a:p>
        </p:txBody>
      </p:sp>
      <p:pic>
        <p:nvPicPr>
          <p:cNvPr id="8" name="Photo Essential logo tees" descr="Essential logo te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22985"/>
            <a:ext cx="2240280" cy="280035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4652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Essential logo tees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874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Women</a:t>
            </a:r>
            <a:endParaRPr lang="en-US" sz="7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Tees · Tops · Sets · Training · Outerwear</a:t>
            </a:r>
            <a:endParaRPr lang="en-US" sz="1400" dirty="0"/>
          </a:p>
        </p:txBody>
      </p:sp>
      <p:pic>
        <p:nvPicPr>
          <p:cNvPr id="5" name="Photo Women 1" descr="Wome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312" y="0"/>
            <a:ext cx="1417320" cy="5143500"/>
          </a:xfrm>
          <a:prstGeom prst="rect">
            <a:avLst/>
          </a:prstGeom>
        </p:spPr>
      </p:pic>
      <p:pic>
        <p:nvPicPr>
          <p:cNvPr id="6" name="Photo Women 2" descr="Wome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0"/>
            <a:ext cx="1417320" cy="5143500"/>
          </a:xfrm>
          <a:prstGeom prst="rect">
            <a:avLst/>
          </a:prstGeom>
        </p:spPr>
      </p:pic>
      <p:pic>
        <p:nvPicPr>
          <p:cNvPr id="7" name="Photo Women 3" descr="Wome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0"/>
            <a:ext cx="141732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01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Colourblock T‑Shirt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Soft colour-blocked tees in a relaxed fit, finished with the XYDV mark on the chest.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Two-tone and three-tone versions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XYDV icon on the chest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Crew neck, relaxed fit</a:t>
            </a:r>
            <a:endParaRPr lang="en-US" sz="1400" dirty="0"/>
          </a:p>
        </p:txBody>
      </p:sp>
      <p:pic>
        <p:nvPicPr>
          <p:cNvPr id="6" name="Photo Navy / Grey" descr="Navy / Gr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56260"/>
            <a:ext cx="2240280" cy="3733800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397764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Navy / Grey</a:t>
            </a:r>
            <a:endParaRPr lang="en-US" sz="1100" dirty="0"/>
          </a:p>
        </p:txBody>
      </p:sp>
      <p:pic>
        <p:nvPicPr>
          <p:cNvPr id="8" name="Photo Lavender / Sage / Cream" descr="Lavender / Sage / Cre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56260"/>
            <a:ext cx="2240280" cy="373380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644652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Lavender / Sage / Cream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02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Casual Top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diagonal-seam essential cut for women, with a gently curved hem and an easy fit.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Diagonal chest seam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Curved hem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Crew neck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Short sleeves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Forest Green</a:t>
            </a:r>
            <a:endParaRPr lang="en-US" sz="1100" dirty="0"/>
          </a:p>
        </p:txBody>
      </p:sp>
      <p:pic>
        <p:nvPicPr>
          <p:cNvPr id="7" name="Photo Casual Top" descr="Casual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03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High Neck T‑Shirt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sleek long-sleeve layer with a mock neck and diagonal seam. Polished, but simple.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Mock high neck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Long sleeves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Diagonal chest seam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Curved hem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Navy</a:t>
            </a:r>
            <a:endParaRPr lang="en-US" sz="1100" dirty="0"/>
          </a:p>
        </p:txBody>
      </p:sp>
      <p:pic>
        <p:nvPicPr>
          <p:cNvPr id="7" name="Photo High Neck T‑Shirt" descr="High Neck T‑Shi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04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V-Neck Sleeveless Top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fitted sleeveless top with a deep V-neck and sculpting seam lines. A versatile base layer.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Deep V-neckline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Contour seam panels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Fitted, slightly cropped length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Ivory</a:t>
            </a:r>
            <a:endParaRPr lang="en-US" sz="1100" dirty="0"/>
          </a:p>
        </p:txBody>
      </p:sp>
      <p:pic>
        <p:nvPicPr>
          <p:cNvPr id="7" name="Photo V-Neck Sleeveless Top" descr="V-Neck Sleeveless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05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Juni Wrap-Neck Top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crossover neckline flows into an asymmetric wrap hem. The statement piece of the women's line.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2971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Crossover wrap neckline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Asymmetric split hem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Sleeveless cut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3977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COLOURWAYS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Olive · Khaki</a:t>
            </a:r>
            <a:endParaRPr lang="en-US" sz="1100" dirty="0"/>
          </a:p>
        </p:txBody>
      </p:sp>
      <p:pic>
        <p:nvPicPr>
          <p:cNvPr id="7" name="Photo Olive, on model" descr="Olive, on mod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56260"/>
            <a:ext cx="2240280" cy="373380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97764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Olive, on model</a:t>
            </a:r>
            <a:endParaRPr lang="en-US" sz="1100" dirty="0"/>
          </a:p>
        </p:txBody>
      </p:sp>
      <p:pic>
        <p:nvPicPr>
          <p:cNvPr id="9" name="Photo Khaki, flat lay" descr="Khaki, flat l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556260"/>
            <a:ext cx="2240280" cy="373380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446520" y="43815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Khaki, flat lay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06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Crop Top &amp; Pant Set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ribbed strappy crop top paired with high-waisted, pleated wide-leg trousers.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Ribbed cami crop top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High-waisted pleated trousers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Wide-leg silhouette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Black / Taupe</a:t>
            </a:r>
            <a:endParaRPr lang="en-US" sz="1100" dirty="0"/>
          </a:p>
        </p:txBody>
      </p:sp>
      <p:pic>
        <p:nvPicPr>
          <p:cNvPr id="7" name="Photo Crop Top &amp; Pant Set" descr="Crop Top &amp; Pant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07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Windbreaker</a:t>
            </a:r>
            <a:endParaRPr lang="en-US" sz="3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light stand-collar shell with a perforated chest panel, made for breezy days outdoors.</a:t>
            </a:r>
            <a:endParaRPr lang="en-US" sz="1400" dirty="0"/>
          </a:p>
        </p:txBody>
      </p:sp>
      <p:sp>
        <p:nvSpPr>
          <p:cNvPr id="5" name="Details"/>
          <p:cNvSpPr txBox="1"/>
          <p:nvPr/>
        </p:nvSpPr>
        <p:spPr>
          <a:xfrm>
            <a:off x="54864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Stand-up collar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Full-length zip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Perforated chest panel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Elasticated cuffs and hem</a:t>
            </a:r>
            <a:endParaRPr lang="en-US" sz="1400" dirty="0"/>
          </a:p>
        </p:txBody>
      </p:sp>
      <p:sp>
        <p:nvSpPr>
          <p:cNvPr id="6" name="Colourway"/>
          <p:cNvSpPr txBox="1"/>
          <p:nvPr/>
        </p:nvSpPr>
        <p:spPr>
          <a:xfrm>
            <a:off x="5486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COLOURWAY  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Stone</a:t>
            </a:r>
            <a:endParaRPr lang="en-US" sz="1100" dirty="0"/>
          </a:p>
        </p:txBody>
      </p:sp>
      <p:pic>
        <p:nvPicPr>
          <p:cNvPr id="7" name="Photo Windbreaker" descr="Windbrea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Cargo Joggers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Relaxed balloon-leg cargo joggers with elastic waists and cuffed ankles.</a:t>
            </a:r>
            <a:endParaRPr lang="en-US" sz="1400" dirty="0"/>
          </a:p>
        </p:txBody>
      </p:sp>
      <p:pic>
        <p:nvPicPr>
          <p:cNvPr id="5" name="Photo Charcoal balloon cargo" descr="Charcoal balloon car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Charcoal balloon cargo</a:t>
            </a:r>
            <a:endParaRPr lang="en-US" sz="1100" dirty="0"/>
          </a:p>
        </p:txBody>
      </p:sp>
      <p:pic>
        <p:nvPicPr>
          <p:cNvPr id="7" name="Photo Cargo jogger trio" descr="Cargo jogger t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Cargo jogger trio</a:t>
            </a:r>
            <a:endParaRPr lang="en-US" sz="1100" dirty="0"/>
          </a:p>
        </p:txBody>
      </p:sp>
      <p:pic>
        <p:nvPicPr>
          <p:cNvPr id="9" name="Photo Wide-leg cargo" descr="Wide-leg car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Wide-leg cargo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Jacket, Bra &amp; Shorts Sets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Colour-blocked zip jackets paired with sports bras, shorts and leggings.</a:t>
            </a:r>
            <a:endParaRPr lang="en-US" sz="1400" dirty="0"/>
          </a:p>
        </p:txBody>
      </p:sp>
      <p:pic>
        <p:nvPicPr>
          <p:cNvPr id="5" name="Photo Full training set" descr="Full training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Full training set</a:t>
            </a:r>
            <a:endParaRPr lang="en-US" sz="1100" dirty="0"/>
          </a:p>
        </p:txBody>
      </p:sp>
      <p:pic>
        <p:nvPicPr>
          <p:cNvPr id="8" name="Photo Jacket, bra &amp; shorts" descr="Jacket, bra &amp; sh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Jacket, bra &amp; shorts</a:t>
            </a:r>
            <a:endParaRPr lang="en-US" sz="1100" dirty="0"/>
          </a:p>
        </p:txBody>
      </p:sp>
      <p:pic>
        <p:nvPicPr>
          <p:cNvPr id="10" name="Photo Jacket &amp; leggings" descr="Jacket &amp; leggin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Jacket &amp; leggings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Cropped Jacket Sets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Boxy cropped jackets matched with sports bras and running shorts.</a:t>
            </a:r>
            <a:endParaRPr lang="en-US" sz="1400" dirty="0"/>
          </a:p>
        </p:txBody>
      </p:sp>
      <p:pic>
        <p:nvPicPr>
          <p:cNvPr id="5" name="Photo Olive cropped set" descr="Olive cropped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Olive cropped set</a:t>
            </a:r>
            <a:endParaRPr lang="en-US" sz="1100" dirty="0"/>
          </a:p>
        </p:txBody>
      </p:sp>
      <p:pic>
        <p:nvPicPr>
          <p:cNvPr id="7" name="Photo Black utility set" descr="Black utility s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Black utility set</a:t>
            </a:r>
            <a:endParaRPr lang="en-US" sz="1100" dirty="0"/>
          </a:p>
        </p:txBody>
      </p:sp>
      <p:pic>
        <p:nvPicPr>
          <p:cNvPr id="9" name="Photo Navy layered set" descr="Navy layered s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Navy layered 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TRAINING SETS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Winter Training Sets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Oversized hooded jackets and anoraks over shorts and crop tops for cold-weather training.</a:t>
            </a:r>
            <a:endParaRPr lang="en-US" sz="1400" dirty="0"/>
          </a:p>
        </p:txBody>
      </p:sp>
      <p:pic>
        <p:nvPicPr>
          <p:cNvPr id="5" name="Photo Olive anorak set" descr="Olive anorak 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Olive anorak set</a:t>
            </a:r>
            <a:endParaRPr lang="en-US" sz="1100" dirty="0"/>
          </a:p>
        </p:txBody>
      </p:sp>
      <p:pic>
        <p:nvPicPr>
          <p:cNvPr id="8" name="Photo Crop tee, jacket &amp; shorts" descr="Crop tee, jacket &amp; sh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Crop tee, jacket &amp; shorts</a:t>
            </a:r>
            <a:endParaRPr lang="en-US" sz="1100" dirty="0"/>
          </a:p>
        </p:txBody>
      </p:sp>
      <p:pic>
        <p:nvPicPr>
          <p:cNvPr id="10" name="Photo Slate hooded set" descr="Slate hooded s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Slate hooded set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ACTIVEWEAR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Modern Gym Tops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Long-sleeve cropped tops with contour seams and XYDV waistbands.</a:t>
            </a:r>
            <a:endParaRPr lang="en-US" sz="1400" dirty="0"/>
          </a:p>
        </p:txBody>
      </p:sp>
      <p:pic>
        <p:nvPicPr>
          <p:cNvPr id="5" name="Photo High-neck crop top" descr="High-neck crop 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High-neck crop top</a:t>
            </a:r>
            <a:endParaRPr lang="en-US" sz="1100" dirty="0"/>
          </a:p>
        </p:txBody>
      </p:sp>
      <p:pic>
        <p:nvPicPr>
          <p:cNvPr id="7" name="Photo Raglan crop top" descr="Raglan crop 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Raglan crop top</a:t>
            </a:r>
            <a:endParaRPr lang="en-US" sz="1100" dirty="0"/>
          </a:p>
        </p:txBody>
      </p:sp>
      <p:pic>
        <p:nvPicPr>
          <p:cNvPr id="9" name="Photo Hooded crop top" descr="Hooded crop 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Hooded crop 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937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ACTIVEWEAR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937760" y="7772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Sports Bras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493776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Supportive bras and fitted tops with clean panelling in soft, muted colours.</a:t>
            </a:r>
            <a:endParaRPr lang="en-US" sz="1400" dirty="0"/>
          </a:p>
        </p:txBody>
      </p:sp>
      <p:pic>
        <p:nvPicPr>
          <p:cNvPr id="5" name="Photo Sage longline bra" descr="Sage longline 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480560" cy="5143500"/>
          </a:xfrm>
          <a:prstGeom prst="rect">
            <a:avLst/>
          </a:prstGeom>
        </p:spPr>
      </p:pic>
      <p:sp>
        <p:nvSpPr>
          <p:cNvPr id="6" name="Hero label bg"/>
          <p:cNvSpPr/>
          <p:nvPr/>
        </p:nvSpPr>
        <p:spPr>
          <a:xfrm>
            <a:off x="320040" y="4526280"/>
            <a:ext cx="2468880" cy="347472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7" name="Hero label"/>
          <p:cNvSpPr txBox="1"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Sage longline bra</a:t>
            </a:r>
            <a:endParaRPr lang="en-US" sz="1100" dirty="0"/>
          </a:p>
        </p:txBody>
      </p:sp>
      <p:pic>
        <p:nvPicPr>
          <p:cNvPr id="8" name="Photo Rose wrap-panel top" descr="Rose wrap-panel 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51760"/>
            <a:ext cx="1691640" cy="1554480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93776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Rose wrap-panel top</a:t>
            </a:r>
            <a:endParaRPr lang="en-US" sz="1100" dirty="0"/>
          </a:p>
        </p:txBody>
      </p:sp>
      <p:pic>
        <p:nvPicPr>
          <p:cNvPr id="10" name="Photo Lilac seamless bra" descr="Lilac seamless b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651760"/>
            <a:ext cx="1691640" cy="1554480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6903720" y="42793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Lilac seamless bra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5778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WOMEN  /  ACTIVEWEAR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2179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Shrugs &amp; Layers</a:t>
            </a:r>
            <a:endParaRPr lang="en-US" sz="3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Soft shrugs and fitted layers worn over sports bras and base tops.</a:t>
            </a:r>
            <a:endParaRPr lang="en-US" sz="1400" dirty="0"/>
          </a:p>
        </p:txBody>
      </p:sp>
      <p:pic>
        <p:nvPicPr>
          <p:cNvPr id="5" name="Photo Blush shrug &amp; bra" descr="Blush shrug &amp; b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2499360" cy="237744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Blush shrug &amp; bra</a:t>
            </a:r>
            <a:endParaRPr lang="en-US" sz="1100" dirty="0"/>
          </a:p>
        </p:txBody>
      </p:sp>
      <p:pic>
        <p:nvPicPr>
          <p:cNvPr id="7" name="Photo Charcoal drape shrug" descr="Charcoal drape shr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645920"/>
            <a:ext cx="2499360" cy="237744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32232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Charcoal drape shrug</a:t>
            </a:r>
            <a:endParaRPr lang="en-US" sz="1100" dirty="0"/>
          </a:p>
        </p:txBody>
      </p:sp>
      <p:pic>
        <p:nvPicPr>
          <p:cNvPr id="9" name="Photo Mint half-zip top" descr="Mint half-zip to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5920"/>
            <a:ext cx="2499360" cy="237744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096000" y="4114800"/>
            <a:ext cx="249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Mint half-zip 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685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COMING SOON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In Progress</a:t>
            </a:r>
            <a:endParaRPr lang="en-US" sz="3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New XYDV styles currently in development.</a:t>
            </a:r>
            <a:endParaRPr lang="en-US" sz="1400" dirty="0"/>
          </a:p>
        </p:txBody>
      </p:sp>
      <p:pic>
        <p:nvPicPr>
          <p:cNvPr id="5" name="Photo Sleeveless base layer" descr="Sleeveless base lay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22985"/>
            <a:ext cx="2240280" cy="280035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397764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Sleeveless base layer</a:t>
            </a:r>
            <a:endParaRPr lang="en-US" sz="1100" dirty="0"/>
          </a:p>
        </p:txBody>
      </p:sp>
      <p:pic>
        <p:nvPicPr>
          <p:cNvPr id="7" name="Photo Washed black denim" descr="Washed black den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22985"/>
            <a:ext cx="2240280" cy="280035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6446520" y="3914775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Washed black denim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872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photo" descr="XYDV T-shirt r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000"/>
            </a:schemeClr>
          </a:solidFill>
          <a:ln/>
        </p:spPr>
      </p:sp>
      <p:sp>
        <p:nvSpPr>
          <p:cNvPr id="4" name="Wordmark"/>
          <p:cNvSpPr txBox="1"/>
          <p:nvPr/>
        </p:nvSpPr>
        <p:spPr>
          <a:xfrm>
            <a:off x="914400" y="1828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chemeClr val="bg1"/>
                </a:solidFill>
              </a:rPr>
              <a:t>XYDV</a:t>
            </a:r>
            <a:endParaRPr lang="en-US" sz="7200" dirty="0"/>
          </a:p>
        </p:txBody>
      </p:sp>
      <p:sp>
        <p:nvSpPr>
          <p:cNvPr id="5" name="Subbrand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0" kern="0" dirty="0">
                <a:solidFill>
                  <a:schemeClr val="accent1"/>
                </a:solidFill>
              </a:rPr>
              <a:t>APPAREL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YDV">
  <a:themeElements>
    <a:clrScheme name="XYDV">
      <a:dk1>
        <a:srgbClr val="121212"/>
      </a:dk1>
      <a:lt1>
        <a:srgbClr val="F2F0EB"/>
      </a:lt1>
      <a:dk2>
        <a:srgbClr val="1E1E1C"/>
      </a:dk2>
      <a:lt2>
        <a:srgbClr val="A3A199"/>
      </a:lt2>
      <a:accent1>
        <a:srgbClr val="B5C46E"/>
      </a:accent1>
      <a:accent2>
        <a:srgbClr val="D8D2C4"/>
      </a:accent2>
      <a:accent3>
        <a:srgbClr val="5E6B4A"/>
      </a:accent3>
      <a:accent4>
        <a:srgbClr val="6E7F8D"/>
      </a:accent4>
      <a:accent5>
        <a:srgbClr val="3A3A38"/>
      </a:accent5>
      <a:accent6>
        <a:srgbClr val="C9A27A"/>
      </a:accent6>
      <a:hlink>
        <a:srgbClr val="B5C46E"/>
      </a:hlink>
      <a:folHlink>
        <a:srgbClr val="8A8F6A"/>
      </a:folHlink>
    </a:clrScheme>
    <a:fontScheme name="XYDV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XYDV Apparel — Collection Lookbook</dc:title>
  <dc:subject>PptxGenJS Presentation</dc:subject>
  <dc:creator>XYDV</dc:creator>
  <cp:lastModifiedBy>XYDV</cp:lastModifiedBy>
  <cp:revision>1</cp:revision>
  <dcterms:created xsi:type="dcterms:W3CDTF">2026-10-11T06:37:19Z</dcterms:created>
  <dcterms:modified xsi:type="dcterms:W3CDTF">2026-10-11T06:37:19Z</dcterms:modified>
</cp:coreProperties>
</file>